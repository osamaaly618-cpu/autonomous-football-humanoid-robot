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Urbanist Medium"/>
      <p:regular r:id="rId29"/>
      <p:bold r:id="rId30"/>
      <p:italic r:id="rId31"/>
      <p:boldItalic r:id="rId32"/>
    </p:embeddedFont>
    <p:embeddedFont>
      <p:font typeface="Urbanist SemiBold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7E2556-0832-47BB-9151-51996D446E7E}">
  <a:tblStyle styleId="{1F7E2556-0832-47BB-9151-51996D446E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italic.fntdata"/><Relationship Id="rId30" Type="http://schemas.openxmlformats.org/officeDocument/2006/relationships/font" Target="fonts/UrbanistMedium-bold.fntdata"/><Relationship Id="rId11" Type="http://schemas.openxmlformats.org/officeDocument/2006/relationships/slide" Target="slides/slide5.xml"/><Relationship Id="rId33" Type="http://schemas.openxmlformats.org/officeDocument/2006/relationships/font" Target="fonts/Urbanist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SemiBold-italic.fntdata"/><Relationship Id="rId12" Type="http://schemas.openxmlformats.org/officeDocument/2006/relationships/slide" Target="slides/slide6.xml"/><Relationship Id="rId34" Type="http://schemas.openxmlformats.org/officeDocument/2006/relationships/font" Target="fonts/UrbanistSemiBold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Urbanist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29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11" Type="http://schemas.openxmlformats.org/officeDocument/2006/relationships/image" Target="../media/image33.png"/><Relationship Id="rId10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80704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Autonomous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Football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Robot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3097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Integrating Computer Vision, STM32 Microcontrollers, and Bipedal Kinematics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76425" y="2466975"/>
            <a:ext cx="84391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true sign of intelligence is not knowledge but imagination.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153025" y="4086225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— Albert Einstein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209675" y="2847975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677525" y="3705225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5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lang="en-US" sz="4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Overview</a:t>
            </a:r>
            <a:endParaRPr b="0" sz="45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02" name="Google Shape;102;p15"/>
          <p:cNvGrpSpPr/>
          <p:nvPr/>
        </p:nvGrpSpPr>
        <p:grpSpPr>
          <a:xfrm>
            <a:off x="571500" y="1714500"/>
            <a:ext cx="11049000" cy="1333500"/>
            <a:chOff x="571500" y="1714500"/>
            <a:chExt cx="11049000" cy="1333500"/>
          </a:xfrm>
        </p:grpSpPr>
        <p:sp>
          <p:nvSpPr>
            <p:cNvPr id="103" name="Google Shape;103;p15"/>
            <p:cNvSpPr/>
            <p:nvPr/>
          </p:nvSpPr>
          <p:spPr>
            <a:xfrm>
              <a:off x="571500" y="1714500"/>
              <a:ext cx="11049000" cy="1333500"/>
            </a:xfrm>
            <a:prstGeom prst="roundRect">
              <a:avLst>
                <a:gd fmla="val 10714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857250" y="1857375"/>
              <a:ext cx="1047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We designed and built an autonomous robot capable of detecting a football, navigating towards it using bipedal locomotion, and executing a dynamic kick.</a:t>
              </a:r>
              <a:endParaRPr b="0" sz="2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571500" y="3429000"/>
            <a:ext cx="11049000" cy="2667000"/>
            <a:chOff x="571500" y="3429000"/>
            <a:chExt cx="11049000" cy="2667000"/>
          </a:xfrm>
        </p:grpSpPr>
        <p:grpSp>
          <p:nvGrpSpPr>
            <p:cNvPr id="106" name="Google Shape;106;p15"/>
            <p:cNvGrpSpPr/>
            <p:nvPr/>
          </p:nvGrpSpPr>
          <p:grpSpPr>
            <a:xfrm>
              <a:off x="571500" y="3429000"/>
              <a:ext cx="3429000" cy="2667000"/>
              <a:chOff x="571500" y="3429000"/>
              <a:chExt cx="3429000" cy="266700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571500" y="3429000"/>
                <a:ext cx="3429000" cy="2667000"/>
              </a:xfrm>
              <a:prstGeom prst="roundRect">
                <a:avLst>
                  <a:gd fmla="val 5357" name="adj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762000" y="3666236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8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 sz="24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762000" y="4095750"/>
                <a:ext cx="3048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5F5F5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Real-Time Computer Vision</a:t>
                </a:r>
                <a:endParaRPr b="0" sz="1800">
                  <a:solidFill>
                    <a:srgbClr val="F5F5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Processing high-resolution video streams to identify and track the football target.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10" name="Google Shape;110;p15"/>
            <p:cNvGrpSpPr/>
            <p:nvPr/>
          </p:nvGrpSpPr>
          <p:grpSpPr>
            <a:xfrm>
              <a:off x="4381500" y="3429000"/>
              <a:ext cx="3429000" cy="2667000"/>
              <a:chOff x="4381500" y="3429000"/>
              <a:chExt cx="3429000" cy="2667000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4381500" y="3429000"/>
                <a:ext cx="3429000" cy="2667000"/>
              </a:xfrm>
              <a:prstGeom prst="roundRect">
                <a:avLst>
                  <a:gd fmla="val 5357" name="adj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5"/>
              <p:cNvSpPr txBox="1"/>
              <p:nvPr/>
            </p:nvSpPr>
            <p:spPr>
              <a:xfrm>
                <a:off x="4572000" y="3666236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8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settings_input_component</a:t>
                </a:r>
                <a:endParaRPr sz="24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4572000" y="4095750"/>
                <a:ext cx="3048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5F5F5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Serial Communication</a:t>
                </a:r>
                <a:endParaRPr b="0" sz="1800">
                  <a:solidFill>
                    <a:srgbClr val="F5F5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Bridging the gap between high-level Python logic and low-level physical actuation via STM32.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14" name="Google Shape;114;p15"/>
            <p:cNvGrpSpPr/>
            <p:nvPr/>
          </p:nvGrpSpPr>
          <p:grpSpPr>
            <a:xfrm>
              <a:off x="8191500" y="3429000"/>
              <a:ext cx="3429000" cy="2667000"/>
              <a:chOff x="8191500" y="3429000"/>
              <a:chExt cx="3429000" cy="2667000"/>
            </a:xfrm>
          </p:grpSpPr>
          <p:sp>
            <p:nvSpPr>
              <p:cNvPr id="115" name="Google Shape;115;p15"/>
              <p:cNvSpPr/>
              <p:nvPr/>
            </p:nvSpPr>
            <p:spPr>
              <a:xfrm>
                <a:off x="8191500" y="3429000"/>
                <a:ext cx="3429000" cy="2667000"/>
              </a:xfrm>
              <a:prstGeom prst="roundRect">
                <a:avLst>
                  <a:gd fmla="val 5357" name="adj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8382000" y="3666236"/>
                <a:ext cx="3048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8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4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7" name="Google Shape;117;p15"/>
              <p:cNvSpPr txBox="1"/>
              <p:nvPr/>
            </p:nvSpPr>
            <p:spPr>
              <a:xfrm>
                <a:off x="8382000" y="4095750"/>
                <a:ext cx="3048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5F5F5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Motor Control Loops</a:t>
                </a:r>
                <a:endParaRPr b="0" sz="1800">
                  <a:solidFill>
                    <a:srgbClr val="F5F5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Precise PWM generation to orchestrate bipedal kinematics and dynamic movements.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8837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28837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2625" y="24145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870948" y="3271837"/>
            <a:ext cx="83010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3776662"/>
            <a:ext cx="2857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smartphone camera captures high-resolution video streams over a local network, replacing embedded modules for better flexibility.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2625" y="24145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35955" y="3271837"/>
            <a:ext cx="7200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Brain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67250" y="3776662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STM32F401 microcontroller acts as the central hub, reading serial commands and orchestrating PWM signals.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2625" y="24145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335928" y="3271837"/>
            <a:ext cx="114014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Muscles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77250" y="3776662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Six SG90 micro servos provide the necessary torque to drive the hips, knees, and ankles of the bipedal leg assemblies.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14550" y="25955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3600" y="25955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72650" y="259556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Hardware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23900" y="23002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230028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Powered by an ARM Cortex-M4 running at high clock speeds, enabling rapid execution of control loops.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23900" y="30146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3014662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Handles robust asynchronous serial communication at a baud rate of 115200.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23900" y="37290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372903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Utilizes hardware timers to generate extremely precise PWM signals for all 6 servos simultaneously.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23900" y="44434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4443412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Serves as the bridge between high-level Python logic and low-level physical actuation.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16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STM32F401</a:t>
            </a: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277177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4200525"/>
            <a:ext cx="528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SG90 Servos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34125" y="277177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Bipedal Mechanics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334125" y="32766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achieve stable bipedal walking and kicking, we require multiple degrees of freedom. Three servos are assigned to each leg, functioning as the hip, knee, and ankle joints.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42767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configuration allows shifting the center of gravity laterally and generating forward momentum.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Precision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Actuation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334125" y="26289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Smartphone Streaming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13372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leveraging an external smartphone camera, we offload image capture from the local system. OpenCV establishes a video capture stream, allowing the Python script to continuously fetch new frames.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44196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provides superior optics and frame rates compared to standard low-cost embedded cameras.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7787" y="201453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Mobile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/>
          <p:nvPr/>
        </p:nvSpPr>
        <p:spPr>
          <a:xfrm>
            <a:off x="5524500" y="2905125"/>
            <a:ext cx="1143000" cy="476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675447" y="3238500"/>
            <a:ext cx="884110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Software &amp;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07968" y="41671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Capture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4614862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Read raw BGR frames from the camera feed and mirror them for alignment.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3343888" y="21478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Pre-process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3407419" y="2595562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Apply an 11x11 Gaussian blur to reduce high-frequency noise and artifacting.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179808" y="41671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Segment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243339" y="4614862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Convert to HSV space and apply binary masking targeting the ball's color profile.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015728" y="21478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Track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079259" y="2595562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Extract contours, find the largest enclosed circle, and calculate its center point.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72782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56374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7399659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0235579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CV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528637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19337"/>
            <a:ext cx="528637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839390" y="2700337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HSV Space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52500" y="3205162"/>
            <a:ext cx="4524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Instead of RGB, we use Hue, Saturation, and Value space. We defined our lower bounds as [20, 70, 70] and upper bounds as [45, 255, 255]. This isolation ensures the vision pipeline only triggers on the target ball's specific wavelength regardless of lighting shadows.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602015" y="2700337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Contour Extraction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715125" y="3205162"/>
            <a:ext cx="4524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After thresholding, `cv2.findContours` maps the edges. We implement an area filter (&gt;1500 px) to ignore background noise. Once verified, `cv2.minEnclosingCircle` mathematically derives the X/Y coordinates and the pixel radius of the target.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Color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Detection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5687"/>
            <a:ext cx="2165598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20716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know when to kick, the robot must gauge depth without lidar. We achieve this purely via optical mathematics.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71500" y="27860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knowing the real-world diameter of the ball (6.7cm) and calibrating the camera's focal length (700), we calculate physical distance inversely proportional to the radius in pixels.</a:t>
            </a:r>
            <a:endParaRPr/>
          </a:p>
        </p:txBody>
      </p:sp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70721"/>
            <a:ext cx="1784598" cy="52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716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Distance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Estimation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24"/>
          <p:cNvGraphicFramePr/>
          <p:nvPr/>
        </p:nvGraphicFramePr>
        <p:xfrm>
          <a:off x="571500" y="2109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{1F7E2556-0832-47BB-9151-51996D446E7E}</a:tableStyleId>
              </a:tblPr>
              <a:tblGrid>
                <a:gridCol w="2645875"/>
                <a:gridCol w="3803450"/>
                <a:gridCol w="2842325"/>
                <a:gridCol w="1757350"/>
              </a:tblGrid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Vision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Mathematical 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Robot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Serial Cmd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Ball on Left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Center X &lt; Frame_Center - 80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Pivot counter-clockwise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Ball on Right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Center X &gt; Frame_Center + 80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Pivot clockwise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Ball Centered &amp; Far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Centered AND Distance &gt;= 25cm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Execute Walk Cycle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Ball Centered &amp; Close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Centered AND Distance &lt; 25cm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Execute Kick Sequence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51C7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</a:t>
                      </a:r>
                      <a:endParaRPr>
                        <a:solidFill>
                          <a:srgbClr val="351C75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4"/>
          <p:cNvSpPr/>
          <p:nvPr/>
        </p:nvSpPr>
        <p:spPr>
          <a:xfrm>
            <a:off x="571500" y="3524250"/>
            <a:ext cx="2645866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3217366" y="3524250"/>
            <a:ext cx="3803451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7020817" y="3524250"/>
            <a:ext cx="2842319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9863137" y="3524250"/>
            <a:ext cx="1757362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71500" y="4229100"/>
            <a:ext cx="2645866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3217366" y="4229100"/>
            <a:ext cx="3803451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7020817" y="4229100"/>
            <a:ext cx="2842319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9863137" y="4229100"/>
            <a:ext cx="1757362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1500" y="4933950"/>
            <a:ext cx="2645866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217366" y="4933950"/>
            <a:ext cx="3803451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020817" y="4933950"/>
            <a:ext cx="2842319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9863137" y="4933950"/>
            <a:ext cx="1757362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5638800"/>
            <a:ext cx="2645866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217366" y="5638800"/>
            <a:ext cx="3803451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020817" y="5638800"/>
            <a:ext cx="2842319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9863137" y="5638800"/>
            <a:ext cx="1757362" cy="952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Decision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Matrix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2286000" y="2033587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Python scripts compute the logic locally and push single-byte character strings (L, R, F, K) down the USB serial port.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286000" y="2957512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Operating at a 115200 baud rate ensures commands are evaluated instantly, reducing end-to-end latency.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286000" y="3881437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STM32 `loop()` continuously monitors `Serial.available()`, acting immediately when a new state instruction arrives.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2286000" y="4805362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Only state changes are broadcasted. If the target remains centered and far, 'F' is sent once, avoiding serial buffer overflow.</a:t>
            </a:r>
            <a:endParaRPr/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764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003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243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4822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PC to MCU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Interface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>
            <a:off x="5524500" y="2905125"/>
            <a:ext cx="1143000" cy="476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2540555" y="3238500"/>
            <a:ext cx="711088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Firmware &amp;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Kinematics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571500" y="20716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Sending a servo directly from 90° to 135° in a single command causes violent jerks, entirely destabilizing a bipedal structure.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571500" y="2786062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engineered a `moveAll()` function that acts as a custom smoothing interpolator. It compares the target angle to the current angle for all 6 servos, incrementing or decrementing by 1° inside a fast loop.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571500" y="40719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built-in micro-delay creates a controlled, organic sweeping motion for every step.</a:t>
            </a:r>
            <a:endParaRPr/>
          </a:p>
        </p:txBody>
      </p:sp>
      <p:pic>
        <p:nvPicPr>
          <p:cNvPr descr="image.png" id="277" name="Google Shape;2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16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Controlling the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Servos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528637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2212"/>
            <a:ext cx="52863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839390" y="28432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Neutral Stance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952500" y="3348037"/>
            <a:ext cx="4524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remain upright, the robot sets default angles: Right Hip 90°, Knee 90°, Ankle 70°. Left Hip 90°, Knee 90°, Ankle 90°. This asymmetrical ankle mapping accounts for mechanical tolerances and offsets center of mass safely.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6602015" y="28432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Walking Cycle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6715125" y="3348037"/>
            <a:ext cx="4524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forward walk requires sequentially tilting ankles to shift weight to one leg, lifting the opposite hip/knee, and swinging it forward. This two-part synchronous sequence (Right step, then Left step) ensures forward thrust.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Bipedal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Stances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1712"/>
            <a:ext cx="342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71712"/>
            <a:ext cx="342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71712"/>
            <a:ext cx="3429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2625" y="25574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1695926" y="3414712"/>
            <a:ext cx="11801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Forward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857250" y="3919537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balancing act. Hip and knee joints mirror each other in opposing phases to generate linear forward motion.</a:t>
            </a:r>
            <a:endParaRPr/>
          </a:p>
        </p:txBody>
      </p:sp>
      <p:pic>
        <p:nvPicPr>
          <p:cNvPr descr="image.png" id="302" name="Google Shape;30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2625" y="25574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5465921" y="3414712"/>
            <a:ext cx="126015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Turn Left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4667250" y="3919537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Hip joints both shift to 110/70 simultaneously while planted. Pulling back resets position, rotating the chassis CCW.</a:t>
            </a:r>
            <a:endParaRPr/>
          </a:p>
        </p:txBody>
      </p:sp>
      <p:pic>
        <p:nvPicPr>
          <p:cNvPr descr="image.png" id="305" name="Google Shape;30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2625" y="25574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 txBox="1"/>
          <p:nvPr/>
        </p:nvSpPr>
        <p:spPr>
          <a:xfrm>
            <a:off x="9185910" y="3414712"/>
            <a:ext cx="14401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Turn Right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8477250" y="3919537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Inverse of the left turn. Asymmetrical hip rotation leverages the foot grip to pivot the robot's heading clockwise.</a:t>
            </a:r>
            <a:endParaRPr/>
          </a:p>
        </p:txBody>
      </p:sp>
      <p:pic>
        <p:nvPicPr>
          <p:cNvPr descr="image.png" id="308" name="Google Shape;308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1700" y="27384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3600" y="27384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53600" y="27384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Movement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Primitives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507968" y="41671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Plant &amp; Lean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571500" y="4614862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Left leg servos adjust (Ankle to 135°) to shift the entire center of mass heavily onto the left foot.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3343888" y="21478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Cock Back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3407419" y="2595562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Right hip pulls back (to 115°). Potential energy is loaded into the stance.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6179808" y="41671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Hip Swing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6243339" y="4614862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Right hip snaps forward violently (to 55°) directly overriding the smoothing function.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9015728" y="2147887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Knee Snap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9079259" y="2595562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Right knee fully extends, striking the ball. System delays and returns to neutral.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72782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456374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7399659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10235579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Kick</a:t>
            </a: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Sequence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571500" y="542925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heavy lifting is equally split between the Python-based OpenCV filtering array and the physical execution time required by the servos' micro-delays on the STM32.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Loop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Timing Budget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/>
        </p:nvSpPr>
        <p:spPr>
          <a:xfrm>
            <a:off x="571500" y="44291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Applying Gaussian Blur allowed us to drop contour extraction complexity, saving significant frame processing time. The servo movement is kept at an ultra-low 4ms delay to ensure rapid responsiveness.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Latency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3"/>
          <p:cNvSpPr txBox="1"/>
          <p:nvPr/>
        </p:nvSpPr>
        <p:spPr>
          <a:xfrm>
            <a:off x="571500" y="1703337"/>
            <a:ext cx="555069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4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Success</a:t>
            </a:r>
            <a:endParaRPr/>
          </a:p>
        </p:txBody>
      </p:sp>
      <p:sp>
        <p:nvSpPr>
          <p:cNvPr id="354" name="Google Shape;354;p33"/>
          <p:cNvSpPr txBox="1"/>
          <p:nvPr/>
        </p:nvSpPr>
        <p:spPr>
          <a:xfrm>
            <a:off x="571500" y="2674887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achieved seamless harmony between high-level Python computer vision operations and bare-metal C++ embedded actuation.</a:t>
            </a:r>
            <a:endParaRPr/>
          </a:p>
        </p:txBody>
      </p:sp>
      <p:sp>
        <p:nvSpPr>
          <p:cNvPr id="355" name="Google Shape;355;p33"/>
          <p:cNvSpPr txBox="1"/>
          <p:nvPr/>
        </p:nvSpPr>
        <p:spPr>
          <a:xfrm>
            <a:off x="571500" y="3914775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successfully identifies targets, continuously calculates distance algorithms, maneuvers via bipedal mechanics, and scores.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224975" y="2543175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You</a:t>
            </a:r>
            <a:endParaRPr/>
          </a:p>
        </p:txBody>
      </p:sp>
      <p:sp>
        <p:nvSpPr>
          <p:cNvPr id="362" name="Google Shape;362;p34"/>
          <p:cNvSpPr txBox="1"/>
          <p:nvPr/>
        </p:nvSpPr>
        <p:spPr>
          <a:xfrm>
            <a:off x="571500" y="37719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</a:t>
            </a: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or exploring our Autonomous Football Robot.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